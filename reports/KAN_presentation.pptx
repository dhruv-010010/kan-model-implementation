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93078-6558-0caf-e145-ec840da694ed}">
          <p14:sldIdLst>
            <p14:sldId id="256"/>
          </p14:sldIdLst>
        </p14:section>
        <p14:section name="Method" id="{f35480c9-da29-7443-5bad-ed9eef024537}">
          <p14:sldIdLst>
            <p14:sldId id="257"/>
            <p14:sldId id="258"/>
            <p14:sldId id="259"/>
          </p14:sldIdLst>
        </p14:section>
        <p14:section name="Reproduction" id="{59e686e3-15b2-d069-204b-22a33259918f}">
          <p14:sldIdLst>
            <p14:sldId id="260"/>
            <p14:sldId id="261"/>
            <p14:sldId id="262"/>
            <p14:sldId id="263"/>
          </p14:sldIdLst>
        </p14:section>
        <p14:section name="Ablations" id="{aebbd6ff-1761-78dd-bf3e-28d558b30e34}">
          <p14:sldIdLst>
            <p14:sldId id="264"/>
          </p14:sldIdLst>
        </p14:section>
        <p14:section name="Extensions" id="{84c25737-b5e5-ece7-aaff-1a9c426ec3dc}">
          <p14:sldIdLst>
            <p14:sldId id="265"/>
            <p14:sldId id="266"/>
          </p14:sldIdLst>
        </p14:section>
        <p14:section name="Conclusion" id="{1f6290d4-cfe8-2fa2-b210-34ed2239a7af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0302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0302F"/>
                </a:solidFill>
                <a:latin typeface="Arial"/>
              </a:rPr>
              <a:t>Seeds (of 4) with test RMSE &lt; 1e-2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Extension</c:v>
                </c:pt>
              </c:strCache>
            </c:strRef>
          </c:tx>
          <c:spPr>
            <a:solidFill>
              <a:srgbClr val="1F7A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30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G=5</c:v>
                  </c:pt>
                  <c:pt idx="1">
                    <c:v>G=10</c:v>
                  </c:pt>
                  <c:pt idx="2">
                    <c:v>G=20</c:v>
                  </c:pt>
                  <c:pt idx="3">
                    <c:v>G=50</c:v>
                  </c:pt>
                  <c:pt idx="4">
                    <c:v>G=100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From scratch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30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G=5</c:v>
                  </c:pt>
                  <c:pt idx="1">
                    <c:v>G=10</c:v>
                  </c:pt>
                  <c:pt idx="2">
                    <c:v>G=20</c:v>
                  </c:pt>
                  <c:pt idx="3">
                    <c:v>G=50</c:v>
                  </c:pt>
                  <c:pt idx="4">
                    <c:v>G=100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030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030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</c:scaling>
        <c:delete val="0"/>
        <c:axPos val="l"/>
        <c:majorGridlines>
          <c:spPr>
            <a:ln w="6350" cap="flat">
              <a:solidFill>
                <a:srgbClr val="EAF1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0302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0302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0302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0302F"/>
                </a:solidFill>
                <a:latin typeface="Arial"/>
              </a:rPr>
              <a:t>Test RMSE (log scale, 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KAN (human-constructed)</c:v>
                </c:pt>
              </c:strCache>
            </c:strRef>
          </c:tx>
          <c:spPr>
            <a:solidFill>
              <a:srgbClr val="1F7A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I.6.2</c:v>
                  </c:pt>
                  <c:pt idx="1">
                    <c:v>I.12.11</c:v>
                  </c:pt>
                  <c:pt idx="2">
                    <c:v>I.16.6</c:v>
                  </c:pt>
                  <c:pt idx="3">
                    <c:v>I.27.6</c:v>
                  </c:pt>
                  <c:pt idx="4">
                    <c:v>I.44.4</c:v>
                  </c:pt>
                  <c:pt idx="5">
                    <c:v>II.35.18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0.033</c:v>
                </c:pt>
                <c:pt idx="1">
                  <c:v>0.00016</c:v>
                </c:pt>
                <c:pt idx="2">
                  <c:v>0.0042</c:v>
                </c:pt>
                <c:pt idx="3">
                  <c:v>0.000071</c:v>
                </c:pt>
                <c:pt idx="4">
                  <c:v>0.000035</c:v>
                </c:pt>
                <c:pt idx="5">
                  <c:v>0.023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MLP (equal params)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I.6.2</c:v>
                  </c:pt>
                  <c:pt idx="1">
                    <c:v>I.12.11</c:v>
                  </c:pt>
                  <c:pt idx="2">
                    <c:v>I.16.6</c:v>
                  </c:pt>
                  <c:pt idx="3">
                    <c:v>I.27.6</c:v>
                  </c:pt>
                  <c:pt idx="4">
                    <c:v>I.44.4</c:v>
                  </c:pt>
                  <c:pt idx="5">
                    <c:v>II.35.18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0.0017</c:v>
                </c:pt>
                <c:pt idx="1">
                  <c:v>0.0011</c:v>
                </c:pt>
                <c:pt idx="2">
                  <c:v>0.0042</c:v>
                </c:pt>
                <c:pt idx="3">
                  <c:v>0.00031</c:v>
                </c:pt>
                <c:pt idx="4">
                  <c:v>0.00091</c:v>
                </c:pt>
                <c:pt idx="5">
                  <c:v>0.00056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030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6350" cap="flat">
              <a:solidFill>
                <a:srgbClr val="EAF1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0302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0302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1F7A7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30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A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7A7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KAN h16</c:v>
                  </c:pt>
                  <c:pt idx="1">
                    <c:v>MLP d2</c:v>
                  </c:pt>
                  <c:pt idx="2">
                    <c:v>MLP d3</c:v>
                  </c:pt>
                  <c:pt idx="3">
                    <c:v>KAN h8</c:v>
                  </c:pt>
                  <c:pt idx="4">
                    <c:v>MLP d2 </c:v>
                  </c:pt>
                  <c:pt idx="5">
                    <c:v>MLP d3 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94.06</c:v>
                </c:pt>
                <c:pt idx="1">
                  <c:v>97.35</c:v>
                </c:pt>
                <c:pt idx="2">
                  <c:v>97.51</c:v>
                </c:pt>
                <c:pt idx="3">
                  <c:v>92.27</c:v>
                </c:pt>
                <c:pt idx="4">
                  <c:v>97.37</c:v>
                </c:pt>
                <c:pt idx="5">
                  <c:v>97.23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030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030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6350" cap="flat">
              <a:solidFill>
                <a:srgbClr val="EAF1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0302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paper, what was implemented, and that the deck reports measured numbers only, including the ones that go against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MLP: fixed activation on nodes, learnable linear weights on edges. KAN: a learnable univariate function on every edge, nodes only sum.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KAN library used. LBFGS, autograd, lstsq and SymPy come from libraries; everything KAN-specific is my own code, with 20 unit tests passing.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Refit a finer spline to the coarse one so the function is preserved, then keep training. Each dotted line in the plot is an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Selection of seeds, checkpoints and MLP configs is on validation only; test is only reported. Differences from the paper: G up to 100 not 1000, 100 steps per grid not 200, 4 seeds.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Slope 3.15 on G up to 20 is a window chosen after seeing the curve. Over the whole range the slope is 2.02 because the error saturates. Only seed 3 reaches ~1e-5.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KAN seed (selected on validation) vs best MLP seed per configuration. The median KAN is worse than the best MLP, so the advantage depends on trying several seeds.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Edges of a live-run [2,1,1] KAN. |corr| with sin(pi x) and y^2 is 1.000 on a dense grid; the second layer is exponential-like.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A: extension only wins at G&gt;=20; at G=5 and 10 from-scratch succeeded more often because a seed failing at G=3 passes its failure down the chain. B: ordering as predicted, slopes below k+1.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Human-constructed KAN vs MLP with the same parameter count. Single seed. Symbolic simplification did not recover any target formula; best symbolic RMSE 2.6e-3 on I.27.6.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PDE: single seed; KAN stage times are per 100-step stage (524 s in total). MNIST: 10 epochs, one seed, no tuning; the KAN may be under-tuned.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showcase function reproduces qualitatively; beyond it the picture is mixed. Limits: few seeds, G up to 100, own choices where the paper is silent, no statistical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the report is generated from results/*.csv. The notebook runs Part A in about 3 minutes using the saved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line motif"/>
          <p:cNvSpPr/>
          <p:nvPr/>
        </p:nvSpPr>
        <p:spPr>
          <a:xfrm>
            <a:off x="457200" y="411480"/>
            <a:ext cx="8229600" cy="1005840"/>
          </a:xfrm>
          <a:custGeom>
            <a:avLst/>
            <a:gdLst/>
            <a:ahLst/>
            <a:cxnLst/>
            <a:rect l="l" t="t" r="r" b="b"/>
            <a:pathLst>
              <a:path w="8229600" h="1005840">
                <a:moveTo>
                  <a:pt x="0" y="283727"/>
                </a:moveTo>
                <a:lnTo>
                  <a:pt x="137160" y="223659"/>
                </a:lnTo>
                <a:lnTo>
                  <a:pt x="274320" y="170468"/>
                </a:lnTo>
                <a:lnTo>
                  <a:pt x="411480" y="125462"/>
                </a:lnTo>
                <a:lnTo>
                  <a:pt x="548640" y="89751"/>
                </a:lnTo>
                <a:lnTo>
                  <a:pt x="685800" y="64214"/>
                </a:lnTo>
                <a:lnTo>
                  <a:pt x="822960" y="49479"/>
                </a:lnTo>
                <a:lnTo>
                  <a:pt x="960120" y="45909"/>
                </a:lnTo>
                <a:lnTo>
                  <a:pt x="1097280" y="53592"/>
                </a:lnTo>
                <a:lnTo>
                  <a:pt x="1234440" y="72340"/>
                </a:lnTo>
                <a:lnTo>
                  <a:pt x="1371600" y="101689"/>
                </a:lnTo>
                <a:lnTo>
                  <a:pt x="1508760" y="140918"/>
                </a:lnTo>
                <a:lnTo>
                  <a:pt x="1645920" y="189061"/>
                </a:lnTo>
                <a:lnTo>
                  <a:pt x="1783080" y="244932"/>
                </a:lnTo>
                <a:lnTo>
                  <a:pt x="1920240" y="307156"/>
                </a:lnTo>
                <a:lnTo>
                  <a:pt x="2057400" y="374200"/>
                </a:lnTo>
                <a:lnTo>
                  <a:pt x="2194560" y="444414"/>
                </a:lnTo>
                <a:lnTo>
                  <a:pt x="2331720" y="516068"/>
                </a:lnTo>
                <a:lnTo>
                  <a:pt x="2468880" y="587398"/>
                </a:lnTo>
                <a:lnTo>
                  <a:pt x="2606040" y="656648"/>
                </a:lnTo>
                <a:lnTo>
                  <a:pt x="2743200" y="722113"/>
                </a:lnTo>
                <a:lnTo>
                  <a:pt x="2880360" y="782181"/>
                </a:lnTo>
                <a:lnTo>
                  <a:pt x="3017520" y="835372"/>
                </a:lnTo>
                <a:lnTo>
                  <a:pt x="3154680" y="880378"/>
                </a:lnTo>
                <a:lnTo>
                  <a:pt x="3291840" y="916089"/>
                </a:lnTo>
                <a:lnTo>
                  <a:pt x="3429000" y="941626"/>
                </a:lnTo>
                <a:lnTo>
                  <a:pt x="3566160" y="956361"/>
                </a:lnTo>
                <a:lnTo>
                  <a:pt x="3703320" y="959931"/>
                </a:lnTo>
                <a:lnTo>
                  <a:pt x="3840480" y="952248"/>
                </a:lnTo>
                <a:lnTo>
                  <a:pt x="3977640" y="933500"/>
                </a:lnTo>
                <a:lnTo>
                  <a:pt x="4114800" y="904151"/>
                </a:lnTo>
                <a:lnTo>
                  <a:pt x="4251960" y="864922"/>
                </a:lnTo>
                <a:lnTo>
                  <a:pt x="4389120" y="816779"/>
                </a:lnTo>
                <a:lnTo>
                  <a:pt x="4526280" y="760908"/>
                </a:lnTo>
                <a:lnTo>
                  <a:pt x="4663440" y="698684"/>
                </a:lnTo>
                <a:lnTo>
                  <a:pt x="4800600" y="631640"/>
                </a:lnTo>
                <a:lnTo>
                  <a:pt x="4937760" y="561426"/>
                </a:lnTo>
                <a:lnTo>
                  <a:pt x="5074920" y="489772"/>
                </a:lnTo>
                <a:lnTo>
                  <a:pt x="5212080" y="418442"/>
                </a:lnTo>
                <a:lnTo>
                  <a:pt x="5349240" y="349192"/>
                </a:lnTo>
                <a:lnTo>
                  <a:pt x="5486400" y="283727"/>
                </a:lnTo>
                <a:lnTo>
                  <a:pt x="5623560" y="223659"/>
                </a:lnTo>
                <a:lnTo>
                  <a:pt x="5760720" y="170468"/>
                </a:lnTo>
                <a:lnTo>
                  <a:pt x="5897880" y="125462"/>
                </a:lnTo>
                <a:lnTo>
                  <a:pt x="6035040" y="89751"/>
                </a:lnTo>
                <a:lnTo>
                  <a:pt x="6172200" y="64214"/>
                </a:lnTo>
                <a:lnTo>
                  <a:pt x="6309360" y="49479"/>
                </a:lnTo>
                <a:lnTo>
                  <a:pt x="6446520" y="45909"/>
                </a:lnTo>
                <a:lnTo>
                  <a:pt x="6583680" y="53592"/>
                </a:lnTo>
                <a:lnTo>
                  <a:pt x="6720840" y="72340"/>
                </a:lnTo>
                <a:lnTo>
                  <a:pt x="6858000" y="101689"/>
                </a:lnTo>
                <a:lnTo>
                  <a:pt x="6995160" y="140918"/>
                </a:lnTo>
                <a:lnTo>
                  <a:pt x="7132320" y="189061"/>
                </a:lnTo>
                <a:lnTo>
                  <a:pt x="7269480" y="244932"/>
                </a:lnTo>
                <a:lnTo>
                  <a:pt x="7406640" y="307156"/>
                </a:lnTo>
                <a:lnTo>
                  <a:pt x="7543800" y="374200"/>
                </a:lnTo>
                <a:lnTo>
                  <a:pt x="7680960" y="444414"/>
                </a:lnTo>
                <a:lnTo>
                  <a:pt x="7818120" y="516068"/>
                </a:lnTo>
                <a:lnTo>
                  <a:pt x="7955280" y="587398"/>
                </a:lnTo>
                <a:lnTo>
                  <a:pt x="8092440" y="656648"/>
                </a:lnTo>
                <a:lnTo>
                  <a:pt x="8229600" y="722113"/>
                </a:lnTo>
              </a:path>
            </a:pathLst>
          </a:custGeom>
          <a:ln w="31750">
            <a:solidFill>
              <a:schemeClr val="accent1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Kolmogorov–Arnold Networks</a:t>
            </a:r>
            <a:endParaRPr lang="en-US" sz="40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From-scratch implementation, reduced-scale reproduction and ablations</a:t>
            </a:r>
            <a:endParaRPr lang="en-US" sz="2000" dirty="0"/>
          </a:p>
        </p:txBody>
      </p:sp>
      <p:sp>
        <p:nvSpPr>
          <p:cNvPr id="5" name="Author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Dhruv · Roll No. 24CS3018 · Deep Learning 2026 · RGIPT</a:t>
            </a:r>
            <a:endParaRPr lang="en-US" sz="1400" dirty="0"/>
          </a:p>
        </p:txBody>
      </p:sp>
      <p:sp>
        <p:nvSpPr>
          <p:cNvPr id="6" name="Paper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Paper: Liu et al., KAN: Kolmogorov–Arnold Networks, arXiv:2404.19756v5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MLP vs KAN</a:t>
            </a:r>
            <a:endParaRPr lang="en-US" sz="3000" dirty="0"/>
          </a:p>
        </p:txBody>
      </p:sp>
      <p:sp>
        <p:nvSpPr>
          <p:cNvPr id="4" name="MLP card"/>
          <p:cNvSpPr/>
          <p:nvPr/>
        </p:nvSpPr>
        <p:spPr>
          <a:xfrm>
            <a:off x="457200" y="1188720"/>
            <a:ext cx="393192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KAN card"/>
          <p:cNvSpPr/>
          <p:nvPr/>
        </p:nvSpPr>
        <p:spPr>
          <a:xfrm>
            <a:off x="4754880" y="1188720"/>
            <a:ext cx="393192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MLP head"/>
          <p:cNvSpPr txBox="1"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MLP</a:t>
            </a:r>
            <a:endParaRPr lang="en-US" sz="2000" dirty="0"/>
          </a:p>
        </p:txBody>
      </p:sp>
      <p:sp>
        <p:nvSpPr>
          <p:cNvPr id="7" name="MLP body"/>
          <p:cNvSpPr txBox="1"/>
          <p:nvPr/>
        </p:nvSpPr>
        <p:spPr>
          <a:xfrm>
            <a:off x="640080" y="17373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Fixed activation on nodes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Learnable linear weights on edges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MLP(x) = W₂ σ(W₁ x)</a:t>
            </a:r>
            <a:endParaRPr lang="en-US" sz="1600" dirty="0"/>
          </a:p>
        </p:txBody>
      </p:sp>
      <p:sp>
        <p:nvSpPr>
          <p:cNvPr id="8" name="KAN head"/>
          <p:cNvSpPr txBox="1"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KAN</a:t>
            </a:r>
            <a:endParaRPr lang="en-US" sz="2000" dirty="0"/>
          </a:p>
        </p:txBody>
      </p:sp>
      <p:sp>
        <p:nvSpPr>
          <p:cNvPr id="9" name="KAN body"/>
          <p:cNvSpPr txBox="1"/>
          <p:nvPr/>
        </p:nvSpPr>
        <p:spPr>
          <a:xfrm>
            <a:off x="4937760" y="17373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Learnable 1-D function on every edge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Nodes only sum their inputs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φ(x) = w_b·silu(x) + w_s·Σ cᵢBᵢ(x)</a:t>
            </a:r>
            <a:endParaRPr lang="en-US" sz="1600" dirty="0"/>
          </a:p>
        </p:txBody>
      </p:sp>
      <p:sp>
        <p:nvSpPr>
          <p:cNvPr id="10" name="Claim"/>
          <p:cNvSpPr txBox="1"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Paper's claims: faster scaling laws on small compositional tasks, and interpretable edge functions.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I built from scratch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 1 dot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rd 1 num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Card title 1"/>
          <p:cNvSpPr txBox="1"/>
          <p:nvPr/>
        </p:nvSpPr>
        <p:spPr>
          <a:xfrm>
            <a:off x="1097280" y="1325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B-splines</a:t>
            </a:r>
            <a:endParaRPr lang="en-US" sz="1600" dirty="0"/>
          </a:p>
        </p:txBody>
      </p:sp>
      <p:sp>
        <p:nvSpPr>
          <p:cNvPr id="8" name="Card text 1"/>
          <p:cNvSpPr txBox="1"/>
          <p:nvPr/>
        </p:nvSpPr>
        <p:spPr>
          <a:xfrm>
            <a:off x="594360" y="18288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Cox–de Boor recursion, checked against SciPy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3246120" y="11887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2 dot"/>
          <p:cNvSpPr/>
          <p:nvPr/>
        </p:nvSpPr>
        <p:spPr>
          <a:xfrm>
            <a:off x="3383280" y="1325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Card 2 num"/>
          <p:cNvSpPr txBox="1"/>
          <p:nvPr/>
        </p:nvSpPr>
        <p:spPr>
          <a:xfrm>
            <a:off x="338328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Card title 2"/>
          <p:cNvSpPr txBox="1"/>
          <p:nvPr/>
        </p:nvSpPr>
        <p:spPr>
          <a:xfrm>
            <a:off x="3886200" y="1325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KAN layer + network</a:t>
            </a:r>
            <a:endParaRPr lang="en-US" sz="1600" dirty="0"/>
          </a:p>
        </p:txBody>
      </p:sp>
      <p:sp>
        <p:nvSpPr>
          <p:cNvPr id="13" name="Card text 2"/>
          <p:cNvSpPr txBox="1"/>
          <p:nvPr/>
        </p:nvSpPr>
        <p:spPr>
          <a:xfrm>
            <a:off x="3383280" y="18288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Eq. 2.5–2.12, paper initialisation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6035040" y="11887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 3 dot"/>
          <p:cNvSpPr/>
          <p:nvPr/>
        </p:nvSpPr>
        <p:spPr>
          <a:xfrm>
            <a:off x="6172200" y="1325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Card 3 num"/>
          <p:cNvSpPr txBox="1"/>
          <p:nvPr/>
        </p:nvSpPr>
        <p:spPr>
          <a:xfrm>
            <a:off x="6172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Card title 3"/>
          <p:cNvSpPr txBox="1"/>
          <p:nvPr/>
        </p:nvSpPr>
        <p:spPr>
          <a:xfrm>
            <a:off x="6675120" y="1325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Grid update + extension</a:t>
            </a:r>
            <a:endParaRPr lang="en-US" sz="1600" dirty="0"/>
          </a:p>
        </p:txBody>
      </p:sp>
      <p:sp>
        <p:nvSpPr>
          <p:cNvPr id="18" name="Card text 3"/>
          <p:cNvSpPr txBox="1"/>
          <p:nvPr/>
        </p:nvSpPr>
        <p:spPr>
          <a:xfrm>
            <a:off x="6172200" y="18288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Least-squares refit (Eq. 2.16)</a:t>
            </a:r>
            <a:endParaRPr lang="en-US" sz="1400" dirty="0"/>
          </a:p>
        </p:txBody>
      </p:sp>
      <p:sp>
        <p:nvSpPr>
          <p:cNvPr id="19" name="Card 4"/>
          <p:cNvSpPr/>
          <p:nvPr/>
        </p:nvSpPr>
        <p:spPr>
          <a:xfrm>
            <a:off x="457200" y="27889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ard 4 dot"/>
          <p:cNvSpPr/>
          <p:nvPr/>
        </p:nvSpPr>
        <p:spPr>
          <a:xfrm>
            <a:off x="594360" y="2926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Card 4 num"/>
          <p:cNvSpPr txBox="1"/>
          <p:nvPr/>
        </p:nvSpPr>
        <p:spPr>
          <a:xfrm>
            <a:off x="59436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Card title 4"/>
          <p:cNvSpPr txBox="1"/>
          <p:nvPr/>
        </p:nvSpPr>
        <p:spPr>
          <a:xfrm>
            <a:off x="109728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Sparsify + prune</a:t>
            </a:r>
            <a:endParaRPr lang="en-US" sz="1600" dirty="0"/>
          </a:p>
        </p:txBody>
      </p:sp>
      <p:sp>
        <p:nvSpPr>
          <p:cNvPr id="23" name="Card text 4"/>
          <p:cNvSpPr txBox="1"/>
          <p:nvPr/>
        </p:nvSpPr>
        <p:spPr>
          <a:xfrm>
            <a:off x="594360" y="34290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L1 + entropy loss, node pruning (Eq. 2.17–2.21)</a:t>
            </a:r>
            <a:endParaRPr lang="en-US" sz="1400" dirty="0"/>
          </a:p>
        </p:txBody>
      </p:sp>
      <p:sp>
        <p:nvSpPr>
          <p:cNvPr id="24" name="Card 5"/>
          <p:cNvSpPr/>
          <p:nvPr/>
        </p:nvSpPr>
        <p:spPr>
          <a:xfrm>
            <a:off x="3246120" y="27889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ard 5 dot"/>
          <p:cNvSpPr/>
          <p:nvPr/>
        </p:nvSpPr>
        <p:spPr>
          <a:xfrm>
            <a:off x="3383280" y="2926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Card 5 num"/>
          <p:cNvSpPr txBox="1"/>
          <p:nvPr/>
        </p:nvSpPr>
        <p:spPr>
          <a:xfrm>
            <a:off x="33832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Card title 5"/>
          <p:cNvSpPr txBox="1"/>
          <p:nvPr/>
        </p:nvSpPr>
        <p:spPr>
          <a:xfrm>
            <a:off x="388620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Symbolic fitting</a:t>
            </a:r>
            <a:endParaRPr lang="en-US" sz="1600" dirty="0"/>
          </a:p>
        </p:txBody>
      </p:sp>
      <p:sp>
        <p:nvSpPr>
          <p:cNvPr id="28" name="Card text 5"/>
          <p:cNvSpPr txBox="1"/>
          <p:nvPr/>
        </p:nvSpPr>
        <p:spPr>
          <a:xfrm>
            <a:off x="3383280" y="34290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c·f(ax+b)+d per edge, SymPy formula</a:t>
            </a:r>
            <a:endParaRPr lang="en-US" sz="1400" dirty="0"/>
          </a:p>
        </p:txBody>
      </p:sp>
      <p:sp>
        <p:nvSpPr>
          <p:cNvPr id="29" name="Card 6"/>
          <p:cNvSpPr/>
          <p:nvPr/>
        </p:nvSpPr>
        <p:spPr>
          <a:xfrm>
            <a:off x="6035040" y="27889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ard 6 dot"/>
          <p:cNvSpPr/>
          <p:nvPr/>
        </p:nvSpPr>
        <p:spPr>
          <a:xfrm>
            <a:off x="6172200" y="2926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Card 6 num"/>
          <p:cNvSpPr txBox="1"/>
          <p:nvPr/>
        </p:nvSpPr>
        <p:spPr>
          <a:xfrm>
            <a:off x="61722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Card title 6"/>
          <p:cNvSpPr txBox="1"/>
          <p:nvPr/>
        </p:nvSpPr>
        <p:spPr>
          <a:xfrm>
            <a:off x="667512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Tasks + baselines</a:t>
            </a:r>
            <a:endParaRPr lang="en-US" sz="1600" dirty="0"/>
          </a:p>
        </p:txBody>
      </p:sp>
      <p:sp>
        <p:nvSpPr>
          <p:cNvPr id="33" name="Card text 6"/>
          <p:cNvSpPr txBox="1"/>
          <p:nvPr/>
        </p:nvSpPr>
        <p:spPr>
          <a:xfrm>
            <a:off x="6172200" y="34290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Feynman, Poisson PINN, MNIST, equal-parameter MLPs</a:t>
            </a:r>
            <a:endParaRPr lang="en-US" sz="1400" dirty="0"/>
          </a:p>
        </p:txBody>
      </p:sp>
      <p:sp>
        <p:nvSpPr>
          <p:cNvPr id="34" name="Tests note"/>
          <p:cNvSpPr txBox="1"/>
          <p:nvPr/>
        </p:nvSpPr>
        <p:spPr>
          <a:xfrm>
            <a:off x="45720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20 unit tests pass (1 CUDA test skipped without a GPU)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Grid extension</a:t>
            </a:r>
            <a:endParaRPr lang="en-US" sz="3000" dirty="0"/>
          </a:p>
        </p:txBody>
      </p:sp>
      <p:sp>
        <p:nvSpPr>
          <p:cNvPr id="4" name="Steps"/>
          <p:cNvSpPr txBox="1"/>
          <p:nvPr/>
        </p:nvSpPr>
        <p:spPr>
          <a:xfrm>
            <a:off x="457200" y="11887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Train at G intervals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Refit a finer spline on G′ intervals to the current one by least squares: the function is preserved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Continue training; repeat for G = 3, 5, 10, 20, 50, 100</a:t>
            </a:r>
            <a:endParaRPr lang="en-US" sz="1600" dirty="0"/>
          </a:p>
        </p:txBody>
      </p:sp>
      <p:pic>
        <p:nvPicPr>
          <p:cNvPr id="5" name="Staircase loss curves" descr="Staircase loss cur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234440"/>
            <a:ext cx="4114800" cy="233172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0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Each extension drops the error, then training plateaus (live run).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Experimental setup</a:t>
            </a:r>
            <a:endParaRPr lang="en-US" sz="3000" dirty="0"/>
          </a:p>
        </p:txBody>
      </p:sp>
      <p:graphicFrame>
        <p:nvGraphicFramePr>
          <p:cNvPr id="6" name="Setup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Task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f(x,y) = exp(sin πx + y²), x,y ~ U[−1,1]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Data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1000 train / 1000 val / 10 000 test, float64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KAN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[2,1,1] × 4 seeds, [2,5,1] × 2 seeds; k = 3; G = 3 … 100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MLP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SiLU, depth 2–4, widths 5–50, 4 seeds each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Optimiser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LBFGS: 100 steps per grid; MLP 600 steps (same total)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Selection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Validation RMSE only; test only reported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Deviation note"/>
          <p:cNvSpPr txBox="1"/>
          <p:nvPr/>
        </p:nvSpPr>
        <p:spPr>
          <a:xfrm>
            <a:off x="457200" y="4251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Differences from the paper: G ≤ 100 (paper: 1000), 100 steps per grid (paper: 200), 4 seeds.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Error vs grid size</a:t>
            </a:r>
            <a:endParaRPr lang="en-US" sz="3000" dirty="0"/>
          </a:p>
        </p:txBody>
      </p:sp>
      <p:pic>
        <p:nvPicPr>
          <p:cNvPr id="4" name="Scaling plot" descr="Scaling pl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51560"/>
            <a:ext cx="7680960" cy="2653423"/>
          </a:xfrm>
          <a:prstGeom prst="rect">
            <a:avLst/>
          </a:prstGeom>
        </p:spPr>
      </p:pic>
      <p:sp>
        <p:nvSpPr>
          <p:cNvPr id="5" name="Slope card"/>
          <p:cNvSpPr/>
          <p:nvPr/>
        </p:nvSpPr>
        <p:spPr>
          <a:xfrm>
            <a:off x="457200" y="374904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lope value"/>
          <p:cNvSpPr txBox="1"/>
          <p:nvPr/>
        </p:nvSpPr>
        <p:spPr>
          <a:xfrm>
            <a:off x="59436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3.15</a:t>
            </a:r>
            <a:endParaRPr lang="en-US" sz="2400" dirty="0"/>
          </a:p>
        </p:txBody>
      </p:sp>
      <p:sp>
        <p:nvSpPr>
          <p:cNvPr id="7" name="Slope label"/>
          <p:cNvSpPr txBox="1"/>
          <p:nvPr/>
        </p:nvSpPr>
        <p:spPr>
          <a:xfrm>
            <a:off x="594360" y="4224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slope for G ≤ 20 (paper ≈ 3)</a:t>
            </a:r>
            <a:endParaRPr lang="en-US" sz="1200" dirty="0"/>
          </a:p>
        </p:txBody>
      </p:sp>
      <p:sp>
        <p:nvSpPr>
          <p:cNvPr id="8" name="Saturation card"/>
          <p:cNvSpPr/>
          <p:nvPr/>
        </p:nvSpPr>
        <p:spPr>
          <a:xfrm>
            <a:off x="3246120" y="374904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aturation value"/>
          <p:cNvSpPr txBox="1"/>
          <p:nvPr/>
        </p:nvSpPr>
        <p:spPr>
          <a:xfrm>
            <a:off x="338328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2.02</a:t>
            </a:r>
            <a:endParaRPr lang="en-US" sz="2400" dirty="0"/>
          </a:p>
        </p:txBody>
      </p:sp>
      <p:sp>
        <p:nvSpPr>
          <p:cNvPr id="10" name="Saturation label"/>
          <p:cNvSpPr txBox="1"/>
          <p:nvPr/>
        </p:nvSpPr>
        <p:spPr>
          <a:xfrm>
            <a:off x="3383280" y="4224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slope over G ≤ 100: saturates</a:t>
            </a:r>
            <a:endParaRPr lang="en-US" sz="1200" dirty="0"/>
          </a:p>
        </p:txBody>
      </p:sp>
      <p:sp>
        <p:nvSpPr>
          <p:cNvPr id="11" name="Seeds card"/>
          <p:cNvSpPr/>
          <p:nvPr/>
        </p:nvSpPr>
        <p:spPr>
          <a:xfrm>
            <a:off x="6035040" y="374904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eeds value"/>
          <p:cNvSpPr txBox="1"/>
          <p:nvPr/>
        </p:nvSpPr>
        <p:spPr>
          <a:xfrm>
            <a:off x="617220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1 of 4</a:t>
            </a:r>
            <a:endParaRPr lang="en-US" sz="2400" dirty="0"/>
          </a:p>
        </p:txBody>
      </p:sp>
      <p:sp>
        <p:nvSpPr>
          <p:cNvPr id="13" name="Seeds label"/>
          <p:cNvSpPr txBox="1"/>
          <p:nvPr/>
        </p:nvSpPr>
        <p:spPr>
          <a:xfrm>
            <a:off x="6172200" y="4224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seeds reach 1.8×10⁻⁵ at G = 100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KAN vs MLP, equal parameters</a:t>
            </a:r>
            <a:endParaRPr lang="en-US" sz="3000" dirty="0"/>
          </a:p>
        </p:txBody>
      </p:sp>
      <p:pic>
        <p:nvPicPr>
          <p:cNvPr id="4" name="KAN vs MLP plot" descr="KAN vs MLP pl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114800" cy="2787445"/>
          </a:xfrm>
          <a:prstGeom prst="rect">
            <a:avLst/>
          </a:prstGeom>
        </p:spPr>
      </p:pic>
      <p:sp>
        <p:nvSpPr>
          <p:cNvPr id="5" name="Ratio card"/>
          <p:cNvSpPr/>
          <p:nvPr/>
        </p:nvSpPr>
        <p:spPr>
          <a:xfrm>
            <a:off x="4846320" y="1188720"/>
            <a:ext cx="38404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Ratio value"/>
          <p:cNvSpPr txBox="1"/>
          <p:nvPr/>
        </p:nvSpPr>
        <p:spPr>
          <a:xfrm>
            <a:off x="4983480" y="1234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≈ 64×</a:t>
            </a:r>
            <a:endParaRPr lang="en-US" sz="2400" dirty="0"/>
          </a:p>
        </p:txBody>
      </p:sp>
      <p:sp>
        <p:nvSpPr>
          <p:cNvPr id="7" name="Ratio label"/>
          <p:cNvSpPr txBox="1"/>
          <p:nvPr/>
        </p:nvSpPr>
        <p:spPr>
          <a:xfrm>
            <a:off x="4983480" y="1664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315-param KAN 1.8×10⁻⁵ vs best MLP (501 params) 1.2×10⁻³</a:t>
            </a:r>
            <a:endParaRPr lang="en-US" sz="1200" dirty="0"/>
          </a:p>
        </p:txBody>
      </p:sp>
      <p:sp>
        <p:nvSpPr>
          <p:cNvPr id="8" name="Median card"/>
          <p:cNvSpPr/>
          <p:nvPr/>
        </p:nvSpPr>
        <p:spPr>
          <a:xfrm>
            <a:off x="4846320" y="2194560"/>
            <a:ext cx="38404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edian value"/>
          <p:cNvSpPr txBox="1"/>
          <p:nvPr/>
        </p:nvSpPr>
        <p:spPr>
          <a:xfrm>
            <a:off x="498348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3.4×10⁻³</a:t>
            </a:r>
            <a:endParaRPr lang="en-US" sz="2400" dirty="0"/>
          </a:p>
        </p:txBody>
      </p:sp>
      <p:sp>
        <p:nvSpPr>
          <p:cNvPr id="10" name="Median label"/>
          <p:cNvSpPr txBox="1"/>
          <p:nvPr/>
        </p:nvSpPr>
        <p:spPr>
          <a:xfrm>
            <a:off x="4983480" y="26700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median KAN at 315 params: worse than the best MLP (1.4×10⁻³)</a:t>
            </a:r>
            <a:endParaRPr lang="en-US" sz="1200" dirty="0"/>
          </a:p>
        </p:txBody>
      </p:sp>
      <p:sp>
        <p:nvSpPr>
          <p:cNvPr id="11" name="Time card"/>
          <p:cNvSpPr/>
          <p:nvPr/>
        </p:nvSpPr>
        <p:spPr>
          <a:xfrm>
            <a:off x="4846320" y="3200400"/>
            <a:ext cx="38404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ime value"/>
          <p:cNvSpPr txBox="1"/>
          <p:nvPr/>
        </p:nvSpPr>
        <p:spPr>
          <a:xfrm>
            <a:off x="4983480" y="3246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127–161 s</a:t>
            </a:r>
            <a:endParaRPr lang="en-US" sz="2400" dirty="0"/>
          </a:p>
        </p:txBody>
      </p:sp>
      <p:sp>
        <p:nvSpPr>
          <p:cNvPr id="13" name="Time label"/>
          <p:cNvSpPr txBox="1"/>
          <p:nvPr/>
        </p:nvSpPr>
        <p:spPr>
          <a:xfrm>
            <a:off x="4983480" y="3675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KAN run vs 19–28 s for a 600-step MLP (CPU)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the KAN learned</a:t>
            </a:r>
            <a:endParaRPr lang="en-US" sz="3000" dirty="0"/>
          </a:p>
        </p:txBody>
      </p:sp>
      <p:pic>
        <p:nvPicPr>
          <p:cNvPr id="4" name="Learned edges" descr="Learned ed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263140"/>
          </a:xfrm>
          <a:prstGeom prst="rect">
            <a:avLst/>
          </a:prstGeom>
        </p:spPr>
      </p:pic>
      <p:sp>
        <p:nvSpPr>
          <p:cNvPr id="5" name="Edge takeaway"/>
          <p:cNvSpPr txBox="1"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First-layer edges recover sin πx and y² (|corr| = 1.000); the output edge is exponential-like, so the compositional structure of f can be read from the splines.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Ablations</a:t>
            </a:r>
            <a:endParaRPr lang="en-US" sz="3000" dirty="0"/>
          </a:p>
        </p:txBody>
      </p:sp>
      <p:sp>
        <p:nvSpPr>
          <p:cNvPr id="4" name="A head"/>
          <p:cNvSpPr txBox="1"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· Grid extension vs from scratch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17320"/>
          <a:ext cx="42976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A takeaway"/>
          <p:cNvSpPr txBox="1"/>
          <p:nvPr/>
        </p:nvSpPr>
        <p:spPr>
          <a:xfrm>
            <a:off x="457200" y="3931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Extension helps only for G ≥ 20; at G = 5, 10 a failed first stage is inherited.</a:t>
            </a:r>
            <a:endParaRPr lang="en-US" sz="1400" dirty="0"/>
          </a:p>
        </p:txBody>
      </p:sp>
      <p:sp>
        <p:nvSpPr>
          <p:cNvPr id="7" name="B head"/>
          <p:cNvSpPr txBox="1"/>
          <p:nvPr/>
        </p:nvSpPr>
        <p:spPr>
          <a:xfrm>
            <a:off x="49377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 · Spline order k</a:t>
            </a:r>
            <a:endParaRPr lang="en-US" sz="1600" dirty="0"/>
          </a:p>
        </p:txBody>
      </p:sp>
      <p:graphicFrame>
        <p:nvGraphicFramePr>
          <p:cNvPr id="10" name="Ord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554480"/>
          <a:ext cx="37490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914400"/>
                <a:gridCol w="82296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slope α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theory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best test RMSE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1.86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9.8×10⁻⁴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2.31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1.4×10⁻⁴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2.46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2.4×10⁻⁵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B takeaway"/>
          <p:cNvSpPr txBox="1"/>
          <p:nvPr/>
        </p:nvSpPr>
        <p:spPr>
          <a:xfrm>
            <a:off x="4937760" y="3383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Higher order lowers the error, as predicted, but slopes fall below k + 1.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Feynman equations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Wins card"/>
          <p:cNvSpPr/>
          <p:nvPr/>
        </p:nvSpPr>
        <p:spPr>
          <a:xfrm>
            <a:off x="5943600" y="1188720"/>
            <a:ext cx="2743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Wins value"/>
          <p:cNvSpPr txBox="1"/>
          <p:nvPr/>
        </p:nvSpPr>
        <p:spPr>
          <a:xfrm>
            <a:off x="608076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3 of 6</a:t>
            </a:r>
            <a:endParaRPr lang="en-US" sz="2400" dirty="0"/>
          </a:p>
        </p:txBody>
      </p:sp>
      <p:sp>
        <p:nvSpPr>
          <p:cNvPr id="7" name="Wins label"/>
          <p:cNvSpPr txBox="1"/>
          <p:nvPr/>
        </p:nvSpPr>
        <p:spPr>
          <a:xfrm>
            <a:off x="6080760" y="16642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KAN better (I.12.11, I.27.6, I.44.4); 1 tie</a:t>
            </a:r>
            <a:endParaRPr lang="en-US" sz="1200" dirty="0"/>
          </a:p>
        </p:txBody>
      </p:sp>
      <p:sp>
        <p:nvSpPr>
          <p:cNvPr id="8" name="Losses card"/>
          <p:cNvSpPr/>
          <p:nvPr/>
        </p:nvSpPr>
        <p:spPr>
          <a:xfrm>
            <a:off x="5943600" y="2194560"/>
            <a:ext cx="2743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osses value"/>
          <p:cNvSpPr txBox="1"/>
          <p:nvPr/>
        </p:nvSpPr>
        <p:spPr>
          <a:xfrm>
            <a:off x="608076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20–41×</a:t>
            </a:r>
            <a:endParaRPr lang="en-US" sz="2400" dirty="0"/>
          </a:p>
        </p:txBody>
      </p:sp>
      <p:sp>
        <p:nvSpPr>
          <p:cNvPr id="10" name="Losses label"/>
          <p:cNvSpPr txBox="1"/>
          <p:nvPr/>
        </p:nvSpPr>
        <p:spPr>
          <a:xfrm>
            <a:off x="6080760" y="2670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KAN worse on I.6.2 and II.35.18</a:t>
            </a:r>
            <a:endParaRPr lang="en-US" sz="1200" dirty="0"/>
          </a:p>
        </p:txBody>
      </p:sp>
      <p:sp>
        <p:nvSpPr>
          <p:cNvPr id="11" name="Symbolic card"/>
          <p:cNvSpPr/>
          <p:nvPr/>
        </p:nvSpPr>
        <p:spPr>
          <a:xfrm>
            <a:off x="5943600" y="3200400"/>
            <a:ext cx="2743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ymbolic value"/>
          <p:cNvSpPr txBox="1"/>
          <p:nvPr/>
        </p:nvSpPr>
        <p:spPr>
          <a:xfrm>
            <a:off x="608076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0 of 6</a:t>
            </a:r>
            <a:endParaRPr lang="en-US" sz="2400" dirty="0"/>
          </a:p>
        </p:txBody>
      </p:sp>
      <p:sp>
        <p:nvSpPr>
          <p:cNvPr id="13" name="Symbolic label"/>
          <p:cNvSpPr txBox="1"/>
          <p:nvPr/>
        </p:nvSpPr>
        <p:spPr>
          <a:xfrm>
            <a:off x="6080760" y="3675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target formulas recovered symbolically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Poisson PDE and MNIST</a:t>
            </a:r>
            <a:endParaRPr lang="en-US" sz="3000" dirty="0"/>
          </a:p>
        </p:txBody>
      </p:sp>
      <p:sp>
        <p:nvSpPr>
          <p:cNvPr id="4" name="PDE head"/>
          <p:cNvSpPr txBox="1"/>
          <p:nvPr/>
        </p:nvSpPr>
        <p:spPr>
          <a:xfrm>
            <a:off x="45720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Poisson PINN, relative L² error</a:t>
            </a:r>
            <a:endParaRPr lang="en-US" sz="1600" dirty="0"/>
          </a:p>
        </p:txBody>
      </p:sp>
      <p:sp>
        <p:nvSpPr>
          <p:cNvPr id="5" name="PDE KAN card"/>
          <p:cNvSpPr/>
          <p:nvPr/>
        </p:nvSpPr>
        <p:spPr>
          <a:xfrm>
            <a:off x="457200" y="1508760"/>
            <a:ext cx="40233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DE KAN value"/>
          <p:cNvSpPr txBox="1"/>
          <p:nvPr/>
        </p:nvSpPr>
        <p:spPr>
          <a:xfrm>
            <a:off x="594360" y="1554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9.1×10⁻³ → 6.4×10⁻⁴</a:t>
            </a:r>
            <a:endParaRPr lang="en-US" sz="2400" dirty="0"/>
          </a:p>
        </p:txBody>
      </p:sp>
      <p:sp>
        <p:nvSpPr>
          <p:cNvPr id="7" name="PDE KAN label"/>
          <p:cNvSpPr txBox="1"/>
          <p:nvPr/>
        </p:nvSpPr>
        <p:spPr>
          <a:xfrm>
            <a:off x="594360" y="19842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KAN as G goes 3 → 20 (240 → 750 params)</a:t>
            </a:r>
            <a:endParaRPr lang="en-US" sz="1200" dirty="0"/>
          </a:p>
        </p:txBody>
      </p:sp>
      <p:sp>
        <p:nvSpPr>
          <p:cNvPr id="8" name="PDE small card"/>
          <p:cNvSpPr/>
          <p:nvPr/>
        </p:nvSpPr>
        <p:spPr>
          <a:xfrm>
            <a:off x="457200" y="2514600"/>
            <a:ext cx="40233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DE small value"/>
          <p:cNvSpPr txBox="1"/>
          <p:nvPr/>
        </p:nvSpPr>
        <p:spPr>
          <a:xfrm>
            <a:off x="594360" y="2560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MLP wins ≤ 300</a:t>
            </a:r>
            <a:endParaRPr lang="en-US" sz="2400" dirty="0"/>
          </a:p>
        </p:txBody>
      </p:sp>
      <p:sp>
        <p:nvSpPr>
          <p:cNvPr id="10" name="PDE small label"/>
          <p:cNvSpPr txBox="1"/>
          <p:nvPr/>
        </p:nvSpPr>
        <p:spPr>
          <a:xfrm>
            <a:off x="594360" y="2990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e.g. 2.7×10⁻³ vs 9.1×10⁻³ at ≈240 params</a:t>
            </a:r>
            <a:endParaRPr lang="en-US" sz="1200" dirty="0"/>
          </a:p>
        </p:txBody>
      </p:sp>
      <p:sp>
        <p:nvSpPr>
          <p:cNvPr id="11" name="PDE large card"/>
          <p:cNvSpPr/>
          <p:nvPr/>
        </p:nvSpPr>
        <p:spPr>
          <a:xfrm>
            <a:off x="457200" y="3520440"/>
            <a:ext cx="40233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DE large value"/>
          <p:cNvSpPr txBox="1"/>
          <p:nvPr/>
        </p:nvSpPr>
        <p:spPr>
          <a:xfrm>
            <a:off x="594360" y="3566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KAN best at 750</a:t>
            </a:r>
            <a:endParaRPr lang="en-US" sz="2400" dirty="0"/>
          </a:p>
        </p:txBody>
      </p:sp>
      <p:sp>
        <p:nvSpPr>
          <p:cNvPr id="13" name="PDE large label"/>
          <p:cNvSpPr txBox="1"/>
          <p:nvPr/>
        </p:nvSpPr>
        <p:spPr>
          <a:xfrm>
            <a:off x="594360" y="39959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6.4×10⁻⁴ vs 7.4×10⁻⁴: only 13% better</a:t>
            </a:r>
            <a:endParaRPr lang="en-US" sz="1200" dirty="0"/>
          </a:p>
        </p:txBody>
      </p:sp>
      <p:sp>
        <p:nvSpPr>
          <p:cNvPr id="14" name="MNIST head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MNIST test accuracy (%)</a:t>
            </a:r>
            <a:endParaRPr lang="en-US" sz="16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663440" y="1417320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MNIST caption"/>
          <p:cNvSpPr txBox="1"/>
          <p:nvPr/>
        </p:nvSpPr>
        <p:spPr>
          <a:xfrm>
            <a:off x="4754880" y="3931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Teal: KAN, amber: MLP with matched parameters. A KAN epoch is about 4–5× slower.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the evidence supports</a:t>
            </a:r>
            <a:endParaRPr lang="en-US" sz="3000" dirty="0"/>
          </a:p>
        </p:txBody>
      </p:sp>
      <p:sp>
        <p:nvSpPr>
          <p:cNvPr id="4" name="Col 1"/>
          <p:cNvSpPr/>
          <p:nvPr/>
        </p:nvSpPr>
        <p:spPr>
          <a:xfrm>
            <a:off x="457200" y="118872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l head 1"/>
          <p:cNvSpPr txBox="1"/>
          <p:nvPr/>
        </p:nvSpPr>
        <p:spPr>
          <a:xfrm>
            <a:off x="640080" y="1280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Supported</a:t>
            </a:r>
            <a:endParaRPr lang="en-US" sz="1800" dirty="0"/>
          </a:p>
        </p:txBody>
      </p:sp>
      <p:sp>
        <p:nvSpPr>
          <p:cNvPr id="6" name="Col body 1"/>
          <p:cNvSpPr txBox="1"/>
          <p:nvPr/>
        </p:nvSpPr>
        <p:spPr>
          <a:xfrm>
            <a:off x="640080" y="173736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Staircase loss under grid extension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Power-law decay at small G (slope 3.15)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Tiny KAN beats equal-size MLP on the showcase task (best seed)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Edges expose sin, x², exp</a:t>
            </a:r>
            <a:endParaRPr lang="en-US" sz="1300" dirty="0"/>
          </a:p>
        </p:txBody>
      </p:sp>
      <p:sp>
        <p:nvSpPr>
          <p:cNvPr id="7" name="Col 2"/>
          <p:cNvSpPr/>
          <p:nvPr/>
        </p:nvSpPr>
        <p:spPr>
          <a:xfrm>
            <a:off x="3246120" y="118872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ol head 2"/>
          <p:cNvSpPr txBox="1"/>
          <p:nvPr/>
        </p:nvSpPr>
        <p:spPr>
          <a:xfrm>
            <a:off x="3429000" y="1280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Not supported</a:t>
            </a:r>
            <a:endParaRPr lang="en-US" sz="1800" dirty="0"/>
          </a:p>
        </p:txBody>
      </p:sp>
      <p:sp>
        <p:nvSpPr>
          <p:cNvPr id="9" name="Col body 2"/>
          <p:cNvSpPr txBox="1"/>
          <p:nvPr/>
        </p:nvSpPr>
        <p:spPr>
          <a:xfrm>
            <a:off x="3429000" y="173736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Slope near 4 and wide scaling range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Robustness: only 1 of 4 seeds, median KAN loses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KAN win on MNIST; clear win on PDE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Automatic symbolic recovery</a:t>
            </a:r>
            <a:endParaRPr lang="en-US" sz="1300" dirty="0"/>
          </a:p>
        </p:txBody>
      </p:sp>
      <p:sp>
        <p:nvSpPr>
          <p:cNvPr id="10" name="Col 3"/>
          <p:cNvSpPr/>
          <p:nvPr/>
        </p:nvSpPr>
        <p:spPr>
          <a:xfrm>
            <a:off x="6035040" y="118872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ol head 3"/>
          <p:cNvSpPr txBox="1"/>
          <p:nvPr/>
        </p:nvSpPr>
        <p:spPr>
          <a:xfrm>
            <a:off x="6217920" y="1280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12" name="Col body 3"/>
          <p:cNvSpPr txBox="1"/>
          <p:nvPr/>
        </p:nvSpPr>
        <p:spPr>
          <a:xfrm>
            <a:off x="6217920" y="173736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 target for the main study, ≤ 4 seeds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Single seed for Feynman, PDE, MNIST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 ≤ 100, 100 steps per grid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Seed and thread-count dependence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Repository and how to run</a:t>
            </a:r>
            <a:endParaRPr lang="en-US" sz="3000" dirty="0"/>
          </a:p>
        </p:txBody>
      </p:sp>
      <p:sp>
        <p:nvSpPr>
          <p:cNvPr id="4" name="Repo tree"/>
          <p:cNvSpPr txBox="1"/>
          <p:nvPr/>
        </p:nvSpPr>
        <p:spPr>
          <a:xfrm>
            <a:off x="457200" y="1188720"/>
            <a:ext cx="5120640" cy="23774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        KAN code + task modules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      20 unit tests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notebooks/  KAN_paper_implementation.ipynb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results/    CSV / JSON of every run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figures/    plots used in report and slides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report/     report.tex, report.pdf</a:t>
            </a:r>
            <a:endParaRPr lang="en-US" sz="1300" dirty="0"/>
          </a:p>
        </p:txBody>
      </p:sp>
      <p:sp>
        <p:nvSpPr>
          <p:cNvPr id="5" name="Commands"/>
          <p:cNvSpPr txBox="1"/>
          <p:nvPr/>
        </p:nvSpPr>
        <p:spPr>
          <a:xfrm>
            <a:off x="457200" y="3703320"/>
            <a:ext cx="5120640" cy="8686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-q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scripts/make_report_tables.py</a:t>
            </a:r>
            <a:endParaRPr lang="en-US" sz="1300" dirty="0"/>
          </a:p>
        </p:txBody>
      </p:sp>
      <p:sp>
        <p:nvSpPr>
          <p:cNvPr id="6" name="Scratch card"/>
          <p:cNvSpPr/>
          <p:nvPr/>
        </p:nvSpPr>
        <p:spPr>
          <a:xfrm>
            <a:off x="5852160" y="1188720"/>
            <a:ext cx="28346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cratch value"/>
          <p:cNvSpPr txBox="1"/>
          <p:nvPr/>
        </p:nvSpPr>
        <p:spPr>
          <a:xfrm>
            <a:off x="598932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No KAN library</a:t>
            </a:r>
            <a:endParaRPr lang="en-US" sz="2400" dirty="0"/>
          </a:p>
        </p:txBody>
      </p:sp>
      <p:sp>
        <p:nvSpPr>
          <p:cNvPr id="8" name="Scratch label"/>
          <p:cNvSpPr txBox="1"/>
          <p:nvPr/>
        </p:nvSpPr>
        <p:spPr>
          <a:xfrm>
            <a:off x="598932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all KAN code written from scratch</a:t>
            </a:r>
            <a:endParaRPr lang="en-US" sz="1200" dirty="0"/>
          </a:p>
        </p:txBody>
      </p:sp>
      <p:sp>
        <p:nvSpPr>
          <p:cNvPr id="9" name="Tests card"/>
          <p:cNvSpPr/>
          <p:nvPr/>
        </p:nvSpPr>
        <p:spPr>
          <a:xfrm>
            <a:off x="5852160" y="2194560"/>
            <a:ext cx="28346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sts value"/>
          <p:cNvSpPr txBox="1"/>
          <p:nvPr/>
        </p:nvSpPr>
        <p:spPr>
          <a:xfrm>
            <a:off x="598932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20 tests</a:t>
            </a:r>
            <a:endParaRPr lang="en-US" sz="2400" dirty="0"/>
          </a:p>
        </p:txBody>
      </p:sp>
      <p:sp>
        <p:nvSpPr>
          <p:cNvPr id="11" name="Tests label"/>
          <p:cNvSpPr txBox="1"/>
          <p:nvPr/>
        </p:nvSpPr>
        <p:spPr>
          <a:xfrm>
            <a:off x="598932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unit tests pass</a:t>
            </a:r>
            <a:endParaRPr lang="en-US" sz="1200" dirty="0"/>
          </a:p>
        </p:txBody>
      </p:sp>
      <p:sp>
        <p:nvSpPr>
          <p:cNvPr id="12" name="Data card"/>
          <p:cNvSpPr/>
          <p:nvPr/>
        </p:nvSpPr>
        <p:spPr>
          <a:xfrm>
            <a:off x="5852160" y="3200400"/>
            <a:ext cx="28346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Data value"/>
          <p:cNvSpPr txBox="1"/>
          <p:nvPr/>
        </p:nvSpPr>
        <p:spPr>
          <a:xfrm>
            <a:off x="598932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Measured only</a:t>
            </a:r>
            <a:endParaRPr lang="en-US" sz="2400" dirty="0"/>
          </a:p>
        </p:txBody>
      </p:sp>
      <p:sp>
        <p:nvSpPr>
          <p:cNvPr id="14" name="Data label"/>
          <p:cNvSpPr txBox="1"/>
          <p:nvPr/>
        </p:nvSpPr>
        <p:spPr>
          <a:xfrm>
            <a:off x="5989320" y="3675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number from saved CSVs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N Spline">
  <a:themeElements>
    <a:clrScheme name="KAN Spline">
      <a:dk1>
        <a:srgbClr val="10302F"/>
      </a:dk1>
      <a:lt1>
        <a:srgbClr val="FFFFFF"/>
      </a:lt1>
      <a:dk2>
        <a:srgbClr val="0F3D3E"/>
      </a:dk2>
      <a:lt2>
        <a:srgbClr val="EAF1F0"/>
      </a:lt2>
      <a:accent1>
        <a:srgbClr val="F2A541"/>
      </a:accent1>
      <a:accent2>
        <a:srgbClr val="1F7A78"/>
      </a:accent2>
      <a:accent3>
        <a:srgbClr val="C8553D"/>
      </a:accent3>
      <a:accent4>
        <a:srgbClr val="56696C"/>
      </a:accent4>
      <a:accent5>
        <a:srgbClr val="8FBFB8"/>
      </a:accent5>
      <a:accent6>
        <a:srgbClr val="3A5A8C"/>
      </a:accent6>
      <a:hlink>
        <a:srgbClr val="1F7A78"/>
      </a:hlink>
      <a:folHlink>
        <a:srgbClr val="56696C"/>
      </a:folHlink>
    </a:clrScheme>
    <a:fontScheme name="KAN Spl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KAN: From-Scratch Implementation and Reduced-Scale Reproduction</dc:title>
  <dc:subject>PptxGenJS Presentation</dc:subject>
  <dc:creator>Dhruv (24CS3018)</dc:creator>
  <cp:lastModifiedBy>Dhruv (24CS3018)</cp:lastModifiedBy>
  <cp:revision>1</cp:revision>
  <dcterms:created xsi:type="dcterms:W3CDTF">2026-10-15T08:35:53Z</dcterms:created>
  <dcterms:modified xsi:type="dcterms:W3CDTF">2026-10-15T08:35:53Z</dcterms:modified>
</cp:coreProperties>
</file>